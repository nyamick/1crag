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59" r:id="rId5"/>
    <p:sldId id="265" r:id="rId6"/>
    <p:sldId id="266" r:id="rId7"/>
    <p:sldId id="268" r:id="rId8"/>
    <p:sldId id="269" r:id="rId9"/>
    <p:sldId id="267" r:id="rId10"/>
    <p:sldId id="270" r:id="rId11"/>
    <p:sldId id="271" r:id="rId12"/>
    <p:sldId id="260" r:id="rId13"/>
    <p:sldId id="272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qVoekVJ7W7s4/UDvCNISyiS8O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 (baseline)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0.8</c:v>
                </c:pt>
                <c:pt idx="2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02-4390-B0C2-F29AEC3AB9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LSA (SVD)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</c:v>
                </c:pt>
                <c:pt idx="1">
                  <c:v>0.76</c:v>
                </c:pt>
                <c:pt idx="2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02-4390-B0C2-F29AEC3AB99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Гибрид (RRF)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Recall@1</c:v>
                </c:pt>
                <c:pt idx="1">
                  <c:v>Recall@3</c:v>
                </c:pt>
                <c:pt idx="2">
                  <c:v>Recall@5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0.64</c:v>
                </c:pt>
                <c:pt idx="1">
                  <c:v>0.8</c:v>
                </c:pt>
                <c:pt idx="2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02-4390-B0C2-F29AEC3AB9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51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7943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7923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2070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9399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83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6406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5748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9139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bg>
      <p:bgPr>
        <a:solidFill>
          <a:srgbClr val="0B5185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ctrTitle"/>
          </p:nvPr>
        </p:nvSpPr>
        <p:spPr>
          <a:xfrm>
            <a:off x="1524000" y="2554660"/>
            <a:ext cx="9144000" cy="206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subTitle" idx="1"/>
          </p:nvPr>
        </p:nvSpPr>
        <p:spPr>
          <a:xfrm>
            <a:off x="1275239" y="5452041"/>
            <a:ext cx="9144000" cy="49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5420" y="441925"/>
            <a:ext cx="4098290" cy="10267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0"/>
          <p:cNvGrpSpPr/>
          <p:nvPr/>
        </p:nvGrpSpPr>
        <p:grpSpPr>
          <a:xfrm>
            <a:off x="564673" y="2855583"/>
            <a:ext cx="11425885" cy="3667982"/>
            <a:chOff x="564673" y="2855583"/>
            <a:chExt cx="11425885" cy="3667982"/>
          </a:xfrm>
        </p:grpSpPr>
        <p:cxnSp>
          <p:nvCxnSpPr>
            <p:cNvPr id="18" name="Google Shape;18;p10"/>
            <p:cNvCxnSpPr/>
            <p:nvPr/>
          </p:nvCxnSpPr>
          <p:spPr>
            <a:xfrm>
              <a:off x="11591293" y="2855583"/>
              <a:ext cx="0" cy="3268717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diamond" w="med" len="med"/>
            </a:ln>
          </p:spPr>
        </p:cxnSp>
        <p:cxnSp>
          <p:nvCxnSpPr>
            <p:cNvPr id="19" name="Google Shape;19;p10"/>
            <p:cNvCxnSpPr/>
            <p:nvPr/>
          </p:nvCxnSpPr>
          <p:spPr>
            <a:xfrm>
              <a:off x="564673" y="6133970"/>
              <a:ext cx="1102662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diamond" w="med" len="med"/>
            </a:ln>
          </p:spPr>
        </p:cxnSp>
        <p:sp>
          <p:nvSpPr>
            <p:cNvPr id="20" name="Google Shape;20;p10"/>
            <p:cNvSpPr/>
            <p:nvPr/>
          </p:nvSpPr>
          <p:spPr>
            <a:xfrm>
              <a:off x="11192028" y="5725035"/>
              <a:ext cx="798530" cy="7985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Google Shape;21;p10"/>
            <p:cNvSpPr/>
            <p:nvPr/>
          </p:nvSpPr>
          <p:spPr>
            <a:xfrm>
              <a:off x="11362086" y="5998606"/>
              <a:ext cx="458415" cy="251389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655420" y="629067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Иркутск 2026</a:t>
            </a:r>
            <a:endParaRPr/>
          </a:p>
        </p:txBody>
      </p:sp>
      <p:pic>
        <p:nvPicPr>
          <p:cNvPr id="23" name="Google Shape;2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0480" y="337468"/>
            <a:ext cx="5191548" cy="1026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/>
          <p:nvPr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378242" y="1389170"/>
            <a:ext cx="11435516" cy="492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90972" y="261609"/>
            <a:ext cx="2322786" cy="58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0" name="Google Shape;3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183" y="280463"/>
            <a:ext cx="2423277" cy="48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1142999" y="355703"/>
            <a:ext cx="10631905" cy="82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  <a:defRPr>
                <a:solidFill>
                  <a:srgbClr val="0B518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1143000" y="1395663"/>
            <a:ext cx="5181600" cy="4965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2"/>
          </p:nvPr>
        </p:nvSpPr>
        <p:spPr>
          <a:xfrm>
            <a:off x="6477000" y="1395663"/>
            <a:ext cx="5297904" cy="4965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9031704" y="63613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" name="Google Shape;36;p12"/>
          <p:cNvSpPr/>
          <p:nvPr/>
        </p:nvSpPr>
        <p:spPr>
          <a:xfrm>
            <a:off x="0" y="0"/>
            <a:ext cx="766560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/>
          <p:nvPr/>
        </p:nvSpPr>
        <p:spPr>
          <a:xfrm rot="5400000">
            <a:off x="-204603" y="5553330"/>
            <a:ext cx="1447800" cy="533400"/>
          </a:xfrm>
          <a:prstGeom prst="rect">
            <a:avLst/>
          </a:prstGeom>
          <a:noFill/>
          <a:ln>
            <a:noFill/>
          </a:ln>
        </p:spPr>
      </p:sp>
      <p:pic>
        <p:nvPicPr>
          <p:cNvPr id="38" name="Google Shape;38;p12"/>
          <p:cNvPicPr preferRelativeResize="0"/>
          <p:nvPr/>
        </p:nvPicPr>
        <p:blipFill rotWithShape="1">
          <a:blip r:embed="rId2">
            <a:alphaModFix/>
          </a:blip>
          <a:srcRect t="-6847" r="83707" b="-1"/>
          <a:stretch/>
        </p:blipFill>
        <p:spPr>
          <a:xfrm>
            <a:off x="158414" y="1086781"/>
            <a:ext cx="517363" cy="675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797" y="348929"/>
            <a:ext cx="556980" cy="523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/>
          <p:nvPr/>
        </p:nvSpPr>
        <p:spPr>
          <a:xfrm>
            <a:off x="8858605" y="0"/>
            <a:ext cx="3333394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371981" y="365125"/>
            <a:ext cx="8238619" cy="64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  <a:defRPr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370393" y="1425064"/>
            <a:ext cx="8238619" cy="411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2400"/>
              <a:buNone/>
              <a:defRPr sz="2400" b="1">
                <a:solidFill>
                  <a:srgbClr val="0B518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370393" y="2046227"/>
            <a:ext cx="8238619" cy="414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3"/>
          </p:nvPr>
        </p:nvSpPr>
        <p:spPr>
          <a:xfrm>
            <a:off x="9225655" y="1509701"/>
            <a:ext cx="2595952" cy="583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4"/>
          </p:nvPr>
        </p:nvSpPr>
        <p:spPr>
          <a:xfrm>
            <a:off x="9225654" y="2323370"/>
            <a:ext cx="2595952" cy="386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915203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8" name="Google Shape;48;p13"/>
          <p:cNvPicPr preferRelativeResize="0"/>
          <p:nvPr/>
        </p:nvPicPr>
        <p:blipFill rotWithShape="1">
          <a:blip r:embed="rId2">
            <a:alphaModFix/>
          </a:blip>
          <a:srcRect t="2525" r="55595"/>
          <a:stretch/>
        </p:blipFill>
        <p:spPr>
          <a:xfrm>
            <a:off x="9396251" y="298830"/>
            <a:ext cx="1076052" cy="46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3039" y="298830"/>
            <a:ext cx="556980" cy="523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Заголовок и объект">
  <p:cSld name="9_Заголовок и объект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78242" y="1389170"/>
            <a:ext cx="5419054" cy="492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90972" y="261609"/>
            <a:ext cx="2322786" cy="58190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2"/>
          </p:nvPr>
        </p:nvSpPr>
        <p:spPr>
          <a:xfrm>
            <a:off x="6096000" y="1397596"/>
            <a:ext cx="5717758" cy="492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183" y="280463"/>
            <a:ext cx="2423277" cy="48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Заголовок и объект">
  <p:cSld name="7_Заголовок и объект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960120" y="247444"/>
            <a:ext cx="1085363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78242" y="1389170"/>
            <a:ext cx="11435516" cy="492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 t="-6847" r="83707" b="-1"/>
          <a:stretch/>
        </p:blipFill>
        <p:spPr>
          <a:xfrm>
            <a:off x="354146" y="152390"/>
            <a:ext cx="517363" cy="675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Заголовок и объект">
  <p:cSld name="5_Заголовок и объект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78242" y="1389170"/>
            <a:ext cx="11435516" cy="3405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81" name="Google Shape;81;p17"/>
          <p:cNvCxnSpPr/>
          <p:nvPr/>
        </p:nvCxnSpPr>
        <p:spPr>
          <a:xfrm>
            <a:off x="-50157" y="5030743"/>
            <a:ext cx="12292314" cy="0"/>
          </a:xfrm>
          <a:prstGeom prst="straightConnector1">
            <a:avLst/>
          </a:prstGeom>
          <a:noFill/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" name="Google Shape;82;p17"/>
          <p:cNvSpPr txBox="1">
            <a:spLocks noGrp="1"/>
          </p:cNvSpPr>
          <p:nvPr>
            <p:ph type="body" idx="2"/>
          </p:nvPr>
        </p:nvSpPr>
        <p:spPr>
          <a:xfrm>
            <a:off x="378242" y="5266387"/>
            <a:ext cx="11435516" cy="91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3" name="Google Shape;83;p17"/>
          <p:cNvGrpSpPr/>
          <p:nvPr/>
        </p:nvGrpSpPr>
        <p:grpSpPr>
          <a:xfrm rot="5400000">
            <a:off x="-2841103" y="3849677"/>
            <a:ext cx="6008064" cy="256410"/>
            <a:chOff x="351141" y="6413828"/>
            <a:chExt cx="6008064" cy="256410"/>
          </a:xfrm>
        </p:grpSpPr>
        <p:sp>
          <p:nvSpPr>
            <p:cNvPr id="84" name="Google Shape;84;p17"/>
            <p:cNvSpPr/>
            <p:nvPr/>
          </p:nvSpPr>
          <p:spPr>
            <a:xfrm>
              <a:off x="351141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 w="19050" cap="flat" cmpd="sng">
              <a:solidFill>
                <a:srgbClr val="0B518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4289960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 w="19050" cap="flat" cmpd="sng">
              <a:solidFill>
                <a:srgbClr val="0B518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6097803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 w="19050" cap="flat" cmpd="sng">
              <a:solidFill>
                <a:srgbClr val="0B518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960120" y="247444"/>
            <a:ext cx="1085363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2">
            <a:alphaModFix/>
          </a:blip>
          <a:srcRect t="-6847" r="83707" b="-1"/>
          <a:stretch/>
        </p:blipFill>
        <p:spPr>
          <a:xfrm>
            <a:off x="354146" y="152390"/>
            <a:ext cx="517363" cy="675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и объект">
  <p:cSld name="2_Заголовок и объект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320728" y="1389170"/>
            <a:ext cx="8493030" cy="4787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90972" y="261609"/>
            <a:ext cx="2322786" cy="58190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95" name="Google Shape;95;p18"/>
          <p:cNvCxnSpPr/>
          <p:nvPr/>
        </p:nvCxnSpPr>
        <p:spPr>
          <a:xfrm>
            <a:off x="2972548" y="1105124"/>
            <a:ext cx="0" cy="5752876"/>
          </a:xfrm>
          <a:prstGeom prst="straightConnector1">
            <a:avLst/>
          </a:prstGeom>
          <a:noFill/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8"/>
          <p:cNvSpPr txBox="1">
            <a:spLocks noGrp="1"/>
          </p:cNvSpPr>
          <p:nvPr>
            <p:ph type="body" idx="2"/>
          </p:nvPr>
        </p:nvSpPr>
        <p:spPr>
          <a:xfrm>
            <a:off x="363212" y="1389170"/>
            <a:ext cx="2246125" cy="527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183" y="280463"/>
            <a:ext cx="2423277" cy="48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Заголовок и объект">
  <p:cSld name="10_Заголовок и объект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4693924" y="2021840"/>
            <a:ext cx="7119834" cy="415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90972" y="261609"/>
            <a:ext cx="2322786" cy="58190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04" name="Google Shape;104;p19"/>
          <p:cNvCxnSpPr/>
          <p:nvPr/>
        </p:nvCxnSpPr>
        <p:spPr>
          <a:xfrm>
            <a:off x="4323828" y="1105124"/>
            <a:ext cx="0" cy="5752876"/>
          </a:xfrm>
          <a:prstGeom prst="straightConnector1">
            <a:avLst/>
          </a:prstGeom>
          <a:noFill/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19"/>
          <p:cNvSpPr txBox="1">
            <a:spLocks noGrp="1"/>
          </p:cNvSpPr>
          <p:nvPr>
            <p:ph type="body" idx="2"/>
          </p:nvPr>
        </p:nvSpPr>
        <p:spPr>
          <a:xfrm>
            <a:off x="363212" y="1389170"/>
            <a:ext cx="3568705" cy="40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2000"/>
              <a:buNone/>
              <a:defRPr sz="20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3"/>
          </p:nvPr>
        </p:nvSpPr>
        <p:spPr>
          <a:xfrm>
            <a:off x="4735852" y="1389170"/>
            <a:ext cx="3446992" cy="40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2000"/>
              <a:buNone/>
              <a:defRPr sz="20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4"/>
          </p:nvPr>
        </p:nvSpPr>
        <p:spPr>
          <a:xfrm>
            <a:off x="388402" y="2021839"/>
            <a:ext cx="3542323" cy="415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183" y="280463"/>
            <a:ext cx="2423277" cy="48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Заголовок и объект">
  <p:cSld name="8_Заголовок и объект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320728" y="1389170"/>
            <a:ext cx="8493030" cy="4787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90972" y="261609"/>
            <a:ext cx="2322786" cy="58190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15" name="Google Shape;115;p20"/>
          <p:cNvCxnSpPr/>
          <p:nvPr/>
        </p:nvCxnSpPr>
        <p:spPr>
          <a:xfrm>
            <a:off x="2972548" y="1105124"/>
            <a:ext cx="0" cy="5752876"/>
          </a:xfrm>
          <a:prstGeom prst="straightConnector1">
            <a:avLst/>
          </a:prstGeom>
          <a:noFill/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363212" y="1389170"/>
            <a:ext cx="2246125" cy="527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183" y="280463"/>
            <a:ext cx="2423277" cy="48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>
            <a:off x="292777" y="3886251"/>
            <a:ext cx="5729592" cy="2527578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rgbClr val="0B51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5638185" y="3425954"/>
            <a:ext cx="399266" cy="79853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/>
        </p:nvSpPr>
        <p:spPr>
          <a:xfrm flipH="1">
            <a:off x="6160648" y="3026171"/>
            <a:ext cx="5729591" cy="3387657"/>
          </a:xfrm>
          <a:prstGeom prst="snip1Rect">
            <a:avLst>
              <a:gd name="adj" fmla="val 13303"/>
            </a:avLst>
          </a:prstGeom>
          <a:solidFill>
            <a:schemeClr val="lt1"/>
          </a:solidFill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rgbClr val="0B51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/>
          <p:nvPr/>
        </p:nvSpPr>
        <p:spPr>
          <a:xfrm rot="10800000">
            <a:off x="6160649" y="2579431"/>
            <a:ext cx="399266" cy="811902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/>
          <p:nvPr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90972" y="261609"/>
            <a:ext cx="2322786" cy="58190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7" name="Google Shape;127;p21"/>
          <p:cNvSpPr/>
          <p:nvPr/>
        </p:nvSpPr>
        <p:spPr>
          <a:xfrm rot="10800000" flipH="1">
            <a:off x="301752" y="1232819"/>
            <a:ext cx="5729592" cy="2525733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rgbClr val="0B51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6160650" y="1232820"/>
            <a:ext cx="5729592" cy="1698400"/>
          </a:xfrm>
          <a:prstGeom prst="snip2DiagRect">
            <a:avLst>
              <a:gd name="adj1" fmla="val 0"/>
              <a:gd name="adj2" fmla="val 26815"/>
            </a:avLst>
          </a:prstGeom>
          <a:noFill/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rgbClr val="0B51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/>
          <p:nvPr/>
        </p:nvSpPr>
        <p:spPr>
          <a:xfrm rot="-5400000">
            <a:off x="11515734" y="1211976"/>
            <a:ext cx="399266" cy="412246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1"/>
          <p:cNvSpPr txBox="1">
            <a:spLocks noGrp="1"/>
          </p:cNvSpPr>
          <p:nvPr>
            <p:ph type="body" idx="1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2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body" idx="3"/>
          </p:nvPr>
        </p:nvSpPr>
        <p:spPr>
          <a:xfrm>
            <a:off x="6229485" y="3697612"/>
            <a:ext cx="5550611" cy="262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4"/>
          </p:nvPr>
        </p:nvSpPr>
        <p:spPr>
          <a:xfrm>
            <a:off x="6263147" y="1779553"/>
            <a:ext cx="5550611" cy="1064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5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6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7"/>
          </p:nvPr>
        </p:nvSpPr>
        <p:spPr>
          <a:xfrm>
            <a:off x="6263147" y="1342440"/>
            <a:ext cx="5550611" cy="378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body" idx="8"/>
          </p:nvPr>
        </p:nvSpPr>
        <p:spPr>
          <a:xfrm>
            <a:off x="6229485" y="3207629"/>
            <a:ext cx="5550611" cy="43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183" y="280463"/>
            <a:ext cx="2423277" cy="48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Заголовок и объект">
  <p:cSld name="3_Заголовок и объект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>
            <a:off x="5687755" y="3424058"/>
            <a:ext cx="399266" cy="79853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2"/>
          <p:cNvSpPr/>
          <p:nvPr/>
        </p:nvSpPr>
        <p:spPr>
          <a:xfrm flipH="1">
            <a:off x="6160647" y="1232819"/>
            <a:ext cx="5729591" cy="5181009"/>
          </a:xfrm>
          <a:prstGeom prst="snip1Rect">
            <a:avLst>
              <a:gd name="adj" fmla="val 0"/>
            </a:avLst>
          </a:prstGeom>
          <a:solidFill>
            <a:schemeClr val="lt1"/>
          </a:solidFill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rgbClr val="0B51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90972" y="261609"/>
            <a:ext cx="2322786" cy="58190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6" name="Google Shape;146;p22"/>
          <p:cNvSpPr/>
          <p:nvPr/>
        </p:nvSpPr>
        <p:spPr>
          <a:xfrm rot="10800000" flipH="1">
            <a:off x="301752" y="1232819"/>
            <a:ext cx="5729592" cy="2525733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rgbClr val="0B51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body" idx="1"/>
          </p:nvPr>
        </p:nvSpPr>
        <p:spPr>
          <a:xfrm>
            <a:off x="6263147" y="1801065"/>
            <a:ext cx="5550611" cy="4530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292777" y="3886251"/>
            <a:ext cx="5729592" cy="2527578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rgbClr val="0B51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/>
          <p:cNvSpPr txBox="1">
            <a:spLocks noGrp="1"/>
          </p:cNvSpPr>
          <p:nvPr>
            <p:ph type="body" idx="2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body" idx="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4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body" idx="5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body" idx="6"/>
          </p:nvPr>
        </p:nvSpPr>
        <p:spPr>
          <a:xfrm>
            <a:off x="6250136" y="1301688"/>
            <a:ext cx="5550611" cy="43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183" y="280463"/>
            <a:ext cx="2423277" cy="48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Заголовок и объект">
  <p:cSld name="6_Заголовок и объект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>
            <a:off x="5687755" y="3424058"/>
            <a:ext cx="399266" cy="79853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3"/>
          <p:cNvSpPr/>
          <p:nvPr/>
        </p:nvSpPr>
        <p:spPr>
          <a:xfrm flipH="1">
            <a:off x="6160647" y="1232819"/>
            <a:ext cx="5729591" cy="5181009"/>
          </a:xfrm>
          <a:prstGeom prst="snip1Rect">
            <a:avLst>
              <a:gd name="adj" fmla="val 0"/>
            </a:avLst>
          </a:prstGeom>
          <a:solidFill>
            <a:schemeClr val="lt1"/>
          </a:solidFill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rgbClr val="0B51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/>
          <p:cNvSpPr txBox="1">
            <a:spLocks noGrp="1"/>
          </p:cNvSpPr>
          <p:nvPr>
            <p:ph type="title"/>
          </p:nvPr>
        </p:nvSpPr>
        <p:spPr>
          <a:xfrm>
            <a:off x="1078993" y="247444"/>
            <a:ext cx="10721754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1" name="Google Shape;161;p23"/>
          <p:cNvSpPr/>
          <p:nvPr/>
        </p:nvSpPr>
        <p:spPr>
          <a:xfrm rot="10800000" flipH="1">
            <a:off x="301752" y="1232819"/>
            <a:ext cx="5729592" cy="2525733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rgbClr val="0B51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6263147" y="1801065"/>
            <a:ext cx="5550611" cy="4530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292777" y="3886251"/>
            <a:ext cx="5729592" cy="2527578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rgbClr val="0B51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3"/>
          <p:cNvSpPr txBox="1">
            <a:spLocks noGrp="1"/>
          </p:cNvSpPr>
          <p:nvPr>
            <p:ph type="body" idx="2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body" idx="4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body" idx="5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6"/>
          </p:nvPr>
        </p:nvSpPr>
        <p:spPr>
          <a:xfrm>
            <a:off x="6250136" y="1301688"/>
            <a:ext cx="5550611" cy="43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1800"/>
              <a:buNone/>
              <a:defRPr sz="1800" b="1">
                <a:solidFill>
                  <a:srgbClr val="0B518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9" name="Google Shape;169;p23"/>
          <p:cNvPicPr preferRelativeResize="0"/>
          <p:nvPr/>
        </p:nvPicPr>
        <p:blipFill rotWithShape="1">
          <a:blip r:embed="rId2">
            <a:alphaModFix/>
          </a:blip>
          <a:srcRect t="-6847" r="83707" b="-1"/>
          <a:stretch/>
        </p:blipFill>
        <p:spPr>
          <a:xfrm>
            <a:off x="354146" y="152390"/>
            <a:ext cx="517363" cy="675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Два объекта">
  <p:cSld name="1_Два объекта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1142999" y="355703"/>
            <a:ext cx="10631905" cy="82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  <a:defRPr>
                <a:solidFill>
                  <a:srgbClr val="0B518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body" idx="1"/>
          </p:nvPr>
        </p:nvSpPr>
        <p:spPr>
          <a:xfrm>
            <a:off x="1143000" y="1395663"/>
            <a:ext cx="4572001" cy="2903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body" idx="2"/>
          </p:nvPr>
        </p:nvSpPr>
        <p:spPr>
          <a:xfrm>
            <a:off x="6091441" y="1395663"/>
            <a:ext cx="5683463" cy="477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sldNum" idx="12"/>
          </p:nvPr>
        </p:nvSpPr>
        <p:spPr>
          <a:xfrm>
            <a:off x="9031704" y="63613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0" y="0"/>
            <a:ext cx="766560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4"/>
          <p:cNvSpPr/>
          <p:nvPr/>
        </p:nvSpPr>
        <p:spPr>
          <a:xfrm rot="5400000">
            <a:off x="-204603" y="5553330"/>
            <a:ext cx="1447800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4"/>
          <p:cNvSpPr/>
          <p:nvPr/>
        </p:nvSpPr>
        <p:spPr>
          <a:xfrm>
            <a:off x="378242" y="4667880"/>
            <a:ext cx="5336759" cy="1686598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72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rPr>
              <a:t>Образец текста</a:t>
            </a:r>
            <a:endParaRPr/>
          </a:p>
        </p:txBody>
      </p:sp>
      <p:pic>
        <p:nvPicPr>
          <p:cNvPr id="178" name="Google Shape;178;p24"/>
          <p:cNvPicPr preferRelativeResize="0"/>
          <p:nvPr/>
        </p:nvPicPr>
        <p:blipFill rotWithShape="1">
          <a:blip r:embed="rId2">
            <a:alphaModFix/>
          </a:blip>
          <a:srcRect t="-6847" r="83707" b="-1"/>
          <a:stretch/>
        </p:blipFill>
        <p:spPr>
          <a:xfrm>
            <a:off x="158414" y="1086781"/>
            <a:ext cx="517363" cy="675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797" y="348929"/>
            <a:ext cx="556980" cy="523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равнение">
  <p:cSld name="2_Сравнение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0" y="0"/>
            <a:ext cx="3333394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499575" y="387636"/>
            <a:ext cx="7041254" cy="43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2400"/>
              <a:buNone/>
              <a:defRPr sz="2400" b="1">
                <a:solidFill>
                  <a:srgbClr val="0B518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body" idx="2"/>
          </p:nvPr>
        </p:nvSpPr>
        <p:spPr>
          <a:xfrm>
            <a:off x="3499575" y="1012826"/>
            <a:ext cx="8394067" cy="517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body" idx="3"/>
          </p:nvPr>
        </p:nvSpPr>
        <p:spPr>
          <a:xfrm>
            <a:off x="370393" y="387636"/>
            <a:ext cx="2595952" cy="43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5" name="Google Shape;185;p25"/>
          <p:cNvSpPr txBox="1">
            <a:spLocks noGrp="1"/>
          </p:cNvSpPr>
          <p:nvPr>
            <p:ph type="body" idx="4"/>
          </p:nvPr>
        </p:nvSpPr>
        <p:spPr>
          <a:xfrm>
            <a:off x="370393" y="1012826"/>
            <a:ext cx="2595952" cy="517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sldNum" idx="12"/>
          </p:nvPr>
        </p:nvSpPr>
        <p:spPr>
          <a:xfrm>
            <a:off x="915203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87" name="Google Shape;187;p25"/>
          <p:cNvPicPr preferRelativeResize="0"/>
          <p:nvPr/>
        </p:nvPicPr>
        <p:blipFill rotWithShape="1">
          <a:blip r:embed="rId2">
            <a:alphaModFix/>
          </a:blip>
          <a:srcRect t="55308" r="-21530"/>
          <a:stretch/>
        </p:blipFill>
        <p:spPr>
          <a:xfrm rot="5400000">
            <a:off x="11060457" y="-7464"/>
            <a:ext cx="583417" cy="1082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равнение">
  <p:cSld name="3_Сравнение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/>
          <p:nvPr/>
        </p:nvSpPr>
        <p:spPr>
          <a:xfrm>
            <a:off x="0" y="0"/>
            <a:ext cx="6012068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 txBox="1">
            <a:spLocks noGrp="1"/>
          </p:cNvSpPr>
          <p:nvPr>
            <p:ph type="body" idx="1"/>
          </p:nvPr>
        </p:nvSpPr>
        <p:spPr>
          <a:xfrm>
            <a:off x="6281928" y="387636"/>
            <a:ext cx="4258900" cy="43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2400"/>
              <a:buNone/>
              <a:defRPr sz="2400" b="1">
                <a:solidFill>
                  <a:srgbClr val="0B518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body" idx="2"/>
          </p:nvPr>
        </p:nvSpPr>
        <p:spPr>
          <a:xfrm>
            <a:off x="6281928" y="1012826"/>
            <a:ext cx="5611714" cy="517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body" idx="3"/>
          </p:nvPr>
        </p:nvSpPr>
        <p:spPr>
          <a:xfrm>
            <a:off x="370392" y="387636"/>
            <a:ext cx="5216591" cy="43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body" idx="4"/>
          </p:nvPr>
        </p:nvSpPr>
        <p:spPr>
          <a:xfrm>
            <a:off x="370392" y="1012826"/>
            <a:ext cx="5216591" cy="517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sldNum" idx="12"/>
          </p:nvPr>
        </p:nvSpPr>
        <p:spPr>
          <a:xfrm>
            <a:off x="915203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600"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95" name="Google Shape;195;p26"/>
          <p:cNvPicPr preferRelativeResize="0"/>
          <p:nvPr/>
        </p:nvPicPr>
        <p:blipFill rotWithShape="1">
          <a:blip r:embed="rId2">
            <a:alphaModFix/>
          </a:blip>
          <a:srcRect t="55308" r="-21530"/>
          <a:stretch/>
        </p:blipFill>
        <p:spPr>
          <a:xfrm rot="5400000">
            <a:off x="11060457" y="-7464"/>
            <a:ext cx="583417" cy="1082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равнение">
  <p:cSld name="1_Сравнение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/>
          <p:nvPr/>
        </p:nvSpPr>
        <p:spPr>
          <a:xfrm>
            <a:off x="5416062" y="0"/>
            <a:ext cx="6775937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604855" y="419668"/>
            <a:ext cx="4439226" cy="82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  <a:defRPr b="1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body" idx="1"/>
          </p:nvPr>
        </p:nvSpPr>
        <p:spPr>
          <a:xfrm>
            <a:off x="636803" y="1417091"/>
            <a:ext cx="4439226" cy="411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B5185"/>
              </a:buClr>
              <a:buSzPts val="2400"/>
              <a:buNone/>
              <a:defRPr sz="2400" b="1">
                <a:solidFill>
                  <a:srgbClr val="0B518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body" idx="2"/>
          </p:nvPr>
        </p:nvSpPr>
        <p:spPr>
          <a:xfrm>
            <a:off x="636803" y="2003483"/>
            <a:ext cx="4439226" cy="414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7"/>
          <p:cNvSpPr txBox="1">
            <a:spLocks noGrp="1"/>
          </p:cNvSpPr>
          <p:nvPr>
            <p:ph type="body" idx="3"/>
          </p:nvPr>
        </p:nvSpPr>
        <p:spPr>
          <a:xfrm>
            <a:off x="5816296" y="419668"/>
            <a:ext cx="3808792" cy="832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2" name="Google Shape;202;p27"/>
          <p:cNvSpPr txBox="1">
            <a:spLocks noGrp="1"/>
          </p:cNvSpPr>
          <p:nvPr>
            <p:ph type="body" idx="4"/>
          </p:nvPr>
        </p:nvSpPr>
        <p:spPr>
          <a:xfrm>
            <a:off x="5816296" y="1398356"/>
            <a:ext cx="6003721" cy="4791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27"/>
          <p:cNvSpPr txBox="1">
            <a:spLocks noGrp="1"/>
          </p:cNvSpPr>
          <p:nvPr>
            <p:ph type="sldNum" idx="12"/>
          </p:nvPr>
        </p:nvSpPr>
        <p:spPr>
          <a:xfrm>
            <a:off x="915203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204" name="Google Shape;204;p27"/>
          <p:cNvCxnSpPr/>
          <p:nvPr/>
        </p:nvCxnSpPr>
        <p:spPr>
          <a:xfrm flipH="1">
            <a:off x="282152" y="1199269"/>
            <a:ext cx="14618" cy="5292436"/>
          </a:xfrm>
          <a:prstGeom prst="straightConnector1">
            <a:avLst/>
          </a:prstGeom>
          <a:noFill/>
          <a:ln w="3810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5" name="Google Shape;205;p27"/>
          <p:cNvSpPr/>
          <p:nvPr/>
        </p:nvSpPr>
        <p:spPr>
          <a:xfrm>
            <a:off x="167945" y="1970492"/>
            <a:ext cx="266700" cy="266700"/>
          </a:xfrm>
          <a:prstGeom prst="ellipse">
            <a:avLst/>
          </a:prstGeom>
          <a:solidFill>
            <a:srgbClr val="0B5185"/>
          </a:solidFill>
          <a:ln w="1905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167945" y="3041321"/>
            <a:ext cx="266700" cy="266700"/>
          </a:xfrm>
          <a:prstGeom prst="ellipse">
            <a:avLst/>
          </a:prstGeom>
          <a:solidFill>
            <a:srgbClr val="0B5185"/>
          </a:solidFill>
          <a:ln w="1905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163420" y="5182979"/>
            <a:ext cx="266700" cy="266700"/>
          </a:xfrm>
          <a:prstGeom prst="ellipse">
            <a:avLst/>
          </a:prstGeom>
          <a:solidFill>
            <a:srgbClr val="0B5185"/>
          </a:solidFill>
          <a:ln w="1905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160488" y="4112150"/>
            <a:ext cx="266700" cy="266700"/>
          </a:xfrm>
          <a:prstGeom prst="ellipse">
            <a:avLst/>
          </a:prstGeom>
          <a:solidFill>
            <a:srgbClr val="0B5185"/>
          </a:solidFill>
          <a:ln w="19050" cap="flat" cmpd="sng">
            <a:solidFill>
              <a:srgbClr val="0B51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7"/>
          <p:cNvPicPr preferRelativeResize="0"/>
          <p:nvPr/>
        </p:nvPicPr>
        <p:blipFill rotWithShape="1">
          <a:blip r:embed="rId2">
            <a:alphaModFix/>
          </a:blip>
          <a:srcRect t="2525" r="55595"/>
          <a:stretch/>
        </p:blipFill>
        <p:spPr>
          <a:xfrm>
            <a:off x="10025322" y="407469"/>
            <a:ext cx="1076052" cy="46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3037" y="406473"/>
            <a:ext cx="556980" cy="523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1" i="0" u="none" strike="noStrike" cap="none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1" i="0" u="none" strike="noStrike" cap="none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1" i="0" u="none" strike="noStrike" cap="none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1" i="0" u="none" strike="noStrike" cap="none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1" i="0" u="none" strike="noStrike" cap="none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1" i="0" u="none" strike="noStrike" cap="none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1" i="0" u="none" strike="noStrike" cap="none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1" i="0" u="none" strike="noStrike" cap="none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1" i="0" u="none" strike="noStrike" cap="none">
                <a:solidFill>
                  <a:srgbClr val="0B51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"/>
          <p:cNvSpPr txBox="1">
            <a:spLocks noGrp="1"/>
          </p:cNvSpPr>
          <p:nvPr>
            <p:ph type="ctrTitle"/>
          </p:nvPr>
        </p:nvSpPr>
        <p:spPr>
          <a:xfrm>
            <a:off x="1524000" y="2554660"/>
            <a:ext cx="9144000" cy="206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ru-RU" dirty="0"/>
              <a:t>RAG для документации 1С:Предприятие</a:t>
            </a:r>
            <a:br>
              <a:rPr lang="ru-RU" dirty="0"/>
            </a:br>
            <a:r>
              <a:rPr lang="ru-RU" dirty="0"/>
              <a:t>Сравнение стратегий </a:t>
            </a:r>
            <a:r>
              <a:rPr lang="ru-RU" dirty="0" err="1"/>
              <a:t>retrieval</a:t>
            </a:r>
            <a:r>
              <a:rPr lang="ru-RU" dirty="0"/>
              <a:t>: TF-IDF, LSA-</a:t>
            </a:r>
            <a:r>
              <a:rPr lang="ru-RU" dirty="0" err="1"/>
              <a:t>эмбеддинги</a:t>
            </a:r>
            <a:r>
              <a:rPr lang="ru-RU" dirty="0"/>
              <a:t> и гибридный подход (RRF)</a:t>
            </a:r>
            <a:br>
              <a:rPr lang="ru-RU" dirty="0"/>
            </a:br>
            <a:endParaRPr lang="ru-RU" dirty="0"/>
          </a:p>
        </p:txBody>
      </p:sp>
      <p:sp>
        <p:nvSpPr>
          <p:cNvPr id="216" name="Google Shape;216;p1"/>
          <p:cNvSpPr txBox="1">
            <a:spLocks noGrp="1"/>
          </p:cNvSpPr>
          <p:nvPr>
            <p:ph type="subTitle" idx="1"/>
          </p:nvPr>
        </p:nvSpPr>
        <p:spPr>
          <a:xfrm>
            <a:off x="876405" y="5243209"/>
            <a:ext cx="9144000" cy="711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b="1" dirty="0"/>
              <a:t>Студент</a:t>
            </a:r>
            <a:r>
              <a:rPr lang="ru-RU" dirty="0"/>
              <a:t>: Денисенко Алексей Сергеевич 14311-ДМ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b="1" dirty="0"/>
              <a:t>Научный руководитель</a:t>
            </a:r>
            <a:r>
              <a:rPr lang="ru-RU" dirty="0"/>
              <a:t>: доцент, к.т.н., Петрушин И.С.</a:t>
            </a:r>
            <a:endParaRPr dirty="0"/>
          </a:p>
        </p:txBody>
      </p:sp>
      <p:sp>
        <p:nvSpPr>
          <p:cNvPr id="217" name="Google Shape;217;p1"/>
          <p:cNvSpPr txBox="1"/>
          <p:nvPr/>
        </p:nvSpPr>
        <p:spPr>
          <a:xfrm>
            <a:off x="524873" y="6257407"/>
            <a:ext cx="15007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Иркутск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"/>
          <p:cNvSpPr txBox="1"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 dirty="0"/>
              <a:t>Проблема и актуальность</a:t>
            </a:r>
            <a:endParaRPr dirty="0"/>
          </a:p>
        </p:txBody>
      </p:sp>
      <p:sp>
        <p:nvSpPr>
          <p:cNvPr id="223" name="Google Shape;223;p2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BBB97F69-26E7-469A-A186-37EE00DA7815}"/>
              </a:ext>
            </a:extLst>
          </p:cNvPr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04B53D2-DAFD-4013-9B48-C7D4FE692ADF}"/>
              </a:ext>
            </a:extLst>
          </p:cNvPr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6BFB561-D1A4-401D-B52B-CB3B84E5CBA8}"/>
              </a:ext>
            </a:extLst>
          </p:cNvPr>
          <p:cNvSpPr/>
          <p:nvPr/>
        </p:nvSpPr>
        <p:spPr>
          <a:xfrm>
            <a:off x="1359118" y="130777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1С:Предприятие — одна из самых распространённых платформ автоматизации на русскоязычном рынке</a:t>
            </a:r>
            <a:endParaRPr lang="en-US" sz="16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9F9E11-9BBF-4CC3-A4B9-81270200B792}"/>
              </a:ext>
            </a:extLst>
          </p:cNvPr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66E3986-84E1-4AF4-8F90-DAE0B4B03B6F}"/>
              </a:ext>
            </a:extLst>
          </p:cNvPr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F67CE84-89F5-4555-92E6-16248857B81A}"/>
              </a:ext>
            </a:extLst>
          </p:cNvPr>
          <p:cNvSpPr/>
          <p:nvPr/>
        </p:nvSpPr>
        <p:spPr>
          <a:xfrm>
            <a:off x="1359118" y="243696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на встроенном языке требует постоянного обращения к обширной документации, стандартам и базе знаний</a:t>
            </a:r>
            <a:endParaRPr lang="en-US" sz="16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32C3869-16C8-4B5F-AF4D-B0036824AC46}"/>
              </a:ext>
            </a:extLst>
          </p:cNvPr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52AB1BB-1705-4BFD-BAB0-E48F3B79C5CE}"/>
              </a:ext>
            </a:extLst>
          </p:cNvPr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15E61BB-A6A0-4EC0-8676-515F73BD9B25}"/>
              </a:ext>
            </a:extLst>
          </p:cNvPr>
          <p:cNvSpPr/>
          <p:nvPr/>
        </p:nvSpPr>
        <p:spPr>
          <a:xfrm>
            <a:off x="1359118" y="3373837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поиск нужного фрагмента информации занимает значительное время разработчика</a:t>
            </a:r>
            <a:endParaRPr lang="en-US" sz="16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0F0F43D-3982-4585-A8A6-22083C5869AA}"/>
              </a:ext>
            </a:extLst>
          </p:cNvPr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6A2A90E-3A4E-4296-A87C-E699C3A6DF43}"/>
              </a:ext>
            </a:extLst>
          </p:cNvPr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2982077-1641-498F-A25B-1C4DD0B057F5}"/>
              </a:ext>
            </a:extLst>
          </p:cNvPr>
          <p:cNvSpPr/>
          <p:nvPr/>
        </p:nvSpPr>
        <p:spPr>
          <a:xfrm>
            <a:off x="1359118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RAG-системы способны автоматизировать поиск и подготовку ответа на вопрос разработчика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"/>
          <p:cNvSpPr txBox="1"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 dirty="0"/>
              <a:t>Цель работы</a:t>
            </a:r>
            <a:endParaRPr dirty="0"/>
          </a:p>
        </p:txBody>
      </p:sp>
      <p:sp>
        <p:nvSpPr>
          <p:cNvPr id="223" name="Google Shape;223;p2"/>
          <p:cNvSpPr txBox="1">
            <a:spLocks noGrp="1"/>
          </p:cNvSpPr>
          <p:nvPr>
            <p:ph type="sldNum" idx="12"/>
          </p:nvPr>
        </p:nvSpPr>
        <p:spPr>
          <a:xfrm>
            <a:off x="9070558" y="64138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0ACA3588-AF34-480D-834E-9729B0E8E1EC}"/>
              </a:ext>
            </a:extLst>
          </p:cNvPr>
          <p:cNvSpPr/>
          <p:nvPr/>
        </p:nvSpPr>
        <p:spPr>
          <a:xfrm>
            <a:off x="548640" y="13716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3F7"/>
          </a:solidFill>
          <a:ln/>
        </p:spPr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D070F9E3-F245-4BF1-9C02-127A340F0338}"/>
              </a:ext>
            </a:extLst>
          </p:cNvPr>
          <p:cNvSpPr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+mj-lt"/>
                <a:ea typeface="Calibri" pitchFamily="34" charset="-122"/>
                <a:cs typeface="Calibri" pitchFamily="34" charset="-120"/>
              </a:rPr>
              <a:t>Цель: сравнить стратегии retrieval для RAG-системы, отвечающей на вопросы разработчиков по платформе 1С:Предприятие</a:t>
            </a:r>
            <a:endParaRPr lang="en-US" sz="1600" dirty="0">
              <a:latin typeface="+mj-lt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3FCA6052-F8A0-43D2-A267-885546E5A789}"/>
              </a:ext>
            </a:extLst>
          </p:cNvPr>
          <p:cNvSpPr/>
          <p:nvPr/>
        </p:nvSpPr>
        <p:spPr>
          <a:xfrm>
            <a:off x="548640" y="27432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13E0B329-CD26-4D52-8C3E-C3FF4BE0C724}"/>
              </a:ext>
            </a:extLst>
          </p:cNvPr>
          <p:cNvSpPr/>
          <p:nvPr/>
        </p:nvSpPr>
        <p:spPr>
          <a:xfrm>
            <a:off x="777240" y="2971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+mj-lt"/>
                <a:ea typeface="Cambria" pitchFamily="34" charset="-122"/>
                <a:cs typeface="Cambria" pitchFamily="34" charset="-120"/>
              </a:rPr>
              <a:t>Корпус и датасет</a:t>
            </a:r>
            <a:endParaRPr lang="en-US" sz="1600" dirty="0">
              <a:latin typeface="+mj-lt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5751C744-8C7E-40E5-9F91-C9D469F85CE4}"/>
              </a:ext>
            </a:extLst>
          </p:cNvPr>
          <p:cNvSpPr/>
          <p:nvPr/>
        </p:nvSpPr>
        <p:spPr>
          <a:xfrm>
            <a:off x="777240" y="35661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Авторский корпус из 20 карточек знаний по 1С и QA-датасет из 25 вопросов с разметкой релевантности</a:t>
            </a:r>
            <a:endParaRPr lang="en-US" sz="1300" dirty="0">
              <a:latin typeface="+mj-lt"/>
            </a:endParaRPr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89C63898-0399-43E7-B306-77AC906A5953}"/>
              </a:ext>
            </a:extLst>
          </p:cNvPr>
          <p:cNvSpPr/>
          <p:nvPr/>
        </p:nvSpPr>
        <p:spPr>
          <a:xfrm>
            <a:off x="4343400" y="27432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03B34CDE-1952-4BAE-8780-D8BC62EDADC0}"/>
              </a:ext>
            </a:extLst>
          </p:cNvPr>
          <p:cNvSpPr/>
          <p:nvPr/>
        </p:nvSpPr>
        <p:spPr>
          <a:xfrm>
            <a:off x="4572000" y="2971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+mj-lt"/>
                <a:ea typeface="Cambria" pitchFamily="34" charset="-122"/>
                <a:cs typeface="Cambria" pitchFamily="34" charset="-120"/>
              </a:rPr>
              <a:t>Три стратегии retrieval</a:t>
            </a:r>
            <a:endParaRPr lang="en-US" sz="1600" dirty="0">
              <a:latin typeface="+mj-lt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B202A10A-E402-4647-B691-095DACBDE31C}"/>
              </a:ext>
            </a:extLst>
          </p:cNvPr>
          <p:cNvSpPr/>
          <p:nvPr/>
        </p:nvSpPr>
        <p:spPr>
          <a:xfrm>
            <a:off x="4572000" y="35661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TF-IDF baseline, локально обученные LSA-эмбеддинги (SVD), гибрид на основе Reciprocal Rank Fusion</a:t>
            </a:r>
            <a:endParaRPr lang="en-US" sz="1300" dirty="0">
              <a:latin typeface="+mj-lt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8422C04D-E284-40BE-8B39-2FD914ED8067}"/>
              </a:ext>
            </a:extLst>
          </p:cNvPr>
          <p:cNvSpPr/>
          <p:nvPr/>
        </p:nvSpPr>
        <p:spPr>
          <a:xfrm>
            <a:off x="8138160" y="27432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F650A86C-8674-4D51-B761-8A16B8A82984}"/>
              </a:ext>
            </a:extLst>
          </p:cNvPr>
          <p:cNvSpPr/>
          <p:nvPr/>
        </p:nvSpPr>
        <p:spPr>
          <a:xfrm>
            <a:off x="8366760" y="2971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+mj-lt"/>
                <a:ea typeface="Cambria" pitchFamily="34" charset="-122"/>
                <a:cs typeface="Cambria" pitchFamily="34" charset="-120"/>
              </a:rPr>
              <a:t>Количественный анализ</a:t>
            </a:r>
            <a:endParaRPr lang="en-US" sz="1600" dirty="0">
              <a:latin typeface="+mj-lt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272BFDA6-211D-43B7-8267-972930A73691}"/>
              </a:ext>
            </a:extLst>
          </p:cNvPr>
          <p:cNvSpPr/>
          <p:nvPr/>
        </p:nvSpPr>
        <p:spPr>
          <a:xfrm>
            <a:off x="8366760" y="35661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Оценка по Recall@k, MRR и задержке обработки запроса для каждого метода</a:t>
            </a:r>
            <a:endParaRPr lang="en-US" sz="1300" dirty="0">
              <a:latin typeface="+mj-l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F1DC57A-D2D3-4669-8BFF-F76D5F375548}"/>
              </a:ext>
            </a:extLst>
          </p:cNvPr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1772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>
            <a:spLocks noGrp="1"/>
          </p:cNvSpPr>
          <p:nvPr>
            <p:ph type="title"/>
          </p:nvPr>
        </p:nvSpPr>
        <p:spPr>
          <a:xfrm>
            <a:off x="1142999" y="355703"/>
            <a:ext cx="10632000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</a:pPr>
            <a:r>
              <a:rPr lang="ru-RU" dirty="0"/>
              <a:t>Схема работы системы</a:t>
            </a:r>
            <a:endParaRPr dirty="0"/>
          </a:p>
        </p:txBody>
      </p:sp>
      <p:sp>
        <p:nvSpPr>
          <p:cNvPr id="242" name="Google Shape;242;p4"/>
          <p:cNvSpPr txBox="1">
            <a:spLocks noGrp="1"/>
          </p:cNvSpPr>
          <p:nvPr>
            <p:ph type="sldNum" idx="12"/>
          </p:nvPr>
        </p:nvSpPr>
        <p:spPr>
          <a:xfrm>
            <a:off x="9031704" y="63613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292966CF-77D9-4275-ADF2-70666918585B}"/>
              </a:ext>
            </a:extLst>
          </p:cNvPr>
          <p:cNvSpPr/>
          <p:nvPr/>
        </p:nvSpPr>
        <p:spPr>
          <a:xfrm>
            <a:off x="963749" y="19659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97C21C2-EF94-48E0-812D-56D332B2F05D}"/>
              </a:ext>
            </a:extLst>
          </p:cNvPr>
          <p:cNvSpPr/>
          <p:nvPr/>
        </p:nvSpPr>
        <p:spPr>
          <a:xfrm>
            <a:off x="963749" y="19659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Вопрос</a:t>
            </a:r>
            <a:endParaRPr lang="en-US" sz="1400" dirty="0">
              <a:latin typeface="+mn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пользователя</a:t>
            </a:r>
            <a:endParaRPr lang="en-US" sz="1400" dirty="0">
              <a:latin typeface="+mn-lt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11810AB-C133-4FDF-B3EC-1A7DE2D75DD4}"/>
              </a:ext>
            </a:extLst>
          </p:cNvPr>
          <p:cNvSpPr/>
          <p:nvPr/>
        </p:nvSpPr>
        <p:spPr>
          <a:xfrm>
            <a:off x="3478349" y="269748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43C72F5-BCBB-4C4F-9538-458DADEE324A}"/>
              </a:ext>
            </a:extLst>
          </p:cNvPr>
          <p:cNvSpPr/>
          <p:nvPr/>
        </p:nvSpPr>
        <p:spPr>
          <a:xfrm>
            <a:off x="3798389" y="19659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2B2ADD2-EB65-4AD1-BAC8-1A76EC9CC314}"/>
              </a:ext>
            </a:extLst>
          </p:cNvPr>
          <p:cNvSpPr/>
          <p:nvPr/>
        </p:nvSpPr>
        <p:spPr>
          <a:xfrm>
            <a:off x="3798389" y="19659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Retrieval:</a:t>
            </a:r>
            <a:endParaRPr lang="en-US" sz="1400" dirty="0">
              <a:latin typeface="+mn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поиск релевантных</a:t>
            </a:r>
            <a:endParaRPr lang="en-US" sz="1400" dirty="0">
              <a:latin typeface="+mn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фрагментов</a:t>
            </a:r>
            <a:endParaRPr lang="en-US" sz="1400" dirty="0">
              <a:latin typeface="+mn-lt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A22DEED-3596-4D59-8DA8-D4F1C1B6452D}"/>
              </a:ext>
            </a:extLst>
          </p:cNvPr>
          <p:cNvSpPr/>
          <p:nvPr/>
        </p:nvSpPr>
        <p:spPr>
          <a:xfrm>
            <a:off x="6312989" y="269748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B04832B-FD3E-4DC0-9F7F-FCAF06B76E64}"/>
              </a:ext>
            </a:extLst>
          </p:cNvPr>
          <p:cNvSpPr/>
          <p:nvPr/>
        </p:nvSpPr>
        <p:spPr>
          <a:xfrm>
            <a:off x="6633029" y="19659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E59D0A5-AACB-4B71-AF85-F8EB3C713601}"/>
              </a:ext>
            </a:extLst>
          </p:cNvPr>
          <p:cNvSpPr/>
          <p:nvPr/>
        </p:nvSpPr>
        <p:spPr>
          <a:xfrm>
            <a:off x="6633029" y="19659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Формирование</a:t>
            </a:r>
            <a:endParaRPr lang="en-US" sz="1400" dirty="0">
              <a:latin typeface="+mn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контекста</a:t>
            </a:r>
            <a:endParaRPr lang="en-US" sz="1400" dirty="0">
              <a:latin typeface="+mn-lt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3D5EEC24-3B73-4289-91D7-A729407126FF}"/>
              </a:ext>
            </a:extLst>
          </p:cNvPr>
          <p:cNvSpPr/>
          <p:nvPr/>
        </p:nvSpPr>
        <p:spPr>
          <a:xfrm>
            <a:off x="9147629" y="269748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516B4518-17C4-4CB8-B804-D5B78DADCEE8}"/>
              </a:ext>
            </a:extLst>
          </p:cNvPr>
          <p:cNvSpPr/>
          <p:nvPr/>
        </p:nvSpPr>
        <p:spPr>
          <a:xfrm>
            <a:off x="9467669" y="19659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1E90AFE-DC8D-41C9-A2E8-11179E49389A}"/>
              </a:ext>
            </a:extLst>
          </p:cNvPr>
          <p:cNvSpPr/>
          <p:nvPr/>
        </p:nvSpPr>
        <p:spPr>
          <a:xfrm>
            <a:off x="9467669" y="19659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Генерация</a:t>
            </a:r>
            <a:endParaRPr lang="en-US" sz="1400" dirty="0">
              <a:latin typeface="+mn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ответа LLM</a:t>
            </a:r>
            <a:endParaRPr lang="en-US" sz="1400" dirty="0">
              <a:latin typeface="+mn-lt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FBC6018-4C59-4FFB-ACFB-CC279082627C}"/>
              </a:ext>
            </a:extLst>
          </p:cNvPr>
          <p:cNvSpPr/>
          <p:nvPr/>
        </p:nvSpPr>
        <p:spPr>
          <a:xfrm>
            <a:off x="963749" y="39776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1295C"/>
                </a:solidFill>
                <a:latin typeface="+mn-lt"/>
                <a:ea typeface="Calibri" pitchFamily="34" charset="-122"/>
                <a:cs typeface="Calibri" pitchFamily="34" charset="-120"/>
              </a:rPr>
              <a:t>Данная работа посвящена именно этапу Retrieval — от его качества напрямую зависит, получит ли языковая модель нужный контекст для точного ответа.</a:t>
            </a:r>
            <a:endParaRPr lang="en-US" sz="16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>
            <a:spLocks noGrp="1"/>
          </p:cNvSpPr>
          <p:nvPr>
            <p:ph type="title"/>
          </p:nvPr>
        </p:nvSpPr>
        <p:spPr>
          <a:xfrm>
            <a:off x="1142999" y="355703"/>
            <a:ext cx="10632000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</a:pPr>
            <a:r>
              <a:rPr lang="ru-RU" dirty="0"/>
              <a:t>Методы </a:t>
            </a:r>
            <a:r>
              <a:rPr lang="en-US" dirty="0"/>
              <a:t>-</a:t>
            </a:r>
            <a:r>
              <a:rPr lang="ru-RU" dirty="0"/>
              <a:t> три стратегии </a:t>
            </a:r>
            <a:r>
              <a:rPr lang="en-US" dirty="0"/>
              <a:t>retrieval</a:t>
            </a:r>
            <a:endParaRPr dirty="0"/>
          </a:p>
        </p:txBody>
      </p:sp>
      <p:sp>
        <p:nvSpPr>
          <p:cNvPr id="242" name="Google Shape;242;p4"/>
          <p:cNvSpPr txBox="1">
            <a:spLocks noGrp="1"/>
          </p:cNvSpPr>
          <p:nvPr>
            <p:ph type="sldNum" idx="12"/>
          </p:nvPr>
        </p:nvSpPr>
        <p:spPr>
          <a:xfrm>
            <a:off x="9031704" y="63613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3C96BE5E-C626-43F5-836F-58759A2D7BE9}"/>
              </a:ext>
            </a:extLst>
          </p:cNvPr>
          <p:cNvSpPr/>
          <p:nvPr/>
        </p:nvSpPr>
        <p:spPr>
          <a:xfrm>
            <a:off x="99060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903143F7-EA4B-41B5-9821-2CB324A340FF}"/>
              </a:ext>
            </a:extLst>
          </p:cNvPr>
          <p:cNvSpPr/>
          <p:nvPr/>
        </p:nvSpPr>
        <p:spPr>
          <a:xfrm>
            <a:off x="121920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DDCF6203-A257-4D31-B107-518632927476}"/>
              </a:ext>
            </a:extLst>
          </p:cNvPr>
          <p:cNvSpPr/>
          <p:nvPr/>
        </p:nvSpPr>
        <p:spPr>
          <a:xfrm>
            <a:off x="18592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+mn-lt"/>
                <a:ea typeface="Cambria" pitchFamily="34" charset="-122"/>
                <a:cs typeface="Cambria" pitchFamily="34" charset="-120"/>
              </a:rPr>
              <a:t>TF-IDF (baseline)</a:t>
            </a:r>
            <a:endParaRPr lang="en-US" sz="1600" dirty="0">
              <a:latin typeface="+mn-lt"/>
            </a:endParaRP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FCD87F75-12B9-4152-9B7C-A1D00152212E}"/>
              </a:ext>
            </a:extLst>
          </p:cNvPr>
          <p:cNvSpPr/>
          <p:nvPr/>
        </p:nvSpPr>
        <p:spPr>
          <a:xfrm>
            <a:off x="1219200" y="25603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n-lt"/>
                <a:ea typeface="Calibri" pitchFamily="34" charset="-122"/>
                <a:cs typeface="Calibri" pitchFamily="34" charset="-120"/>
              </a:rPr>
              <a:t>Косинусная близость векторов TF-IDF (униграммы + биграммы). Классический лексический поиск.</a:t>
            </a:r>
            <a:endParaRPr lang="en-US" sz="1300" dirty="0">
              <a:latin typeface="+mn-lt"/>
            </a:endParaRPr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FDFE61D5-DAB6-4E9A-BB10-D7793E5911E3}"/>
              </a:ext>
            </a:extLst>
          </p:cNvPr>
          <p:cNvSpPr/>
          <p:nvPr/>
        </p:nvSpPr>
        <p:spPr>
          <a:xfrm>
            <a:off x="4653059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31C027E6-C12A-452A-A54F-AF9408B42265}"/>
              </a:ext>
            </a:extLst>
          </p:cNvPr>
          <p:cNvSpPr/>
          <p:nvPr/>
        </p:nvSpPr>
        <p:spPr>
          <a:xfrm>
            <a:off x="501396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EDFA21DF-864F-4DA1-B073-37ECDE5368F7}"/>
              </a:ext>
            </a:extLst>
          </p:cNvPr>
          <p:cNvSpPr/>
          <p:nvPr/>
        </p:nvSpPr>
        <p:spPr>
          <a:xfrm>
            <a:off x="56540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+mn-lt"/>
                <a:ea typeface="Cambria" pitchFamily="34" charset="-122"/>
                <a:cs typeface="Cambria" pitchFamily="34" charset="-120"/>
              </a:rPr>
              <a:t>LSA-эмбеддинги</a:t>
            </a:r>
            <a:endParaRPr lang="en-US" sz="1600" dirty="0">
              <a:latin typeface="+mn-lt"/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EDF22080-6CDC-404E-924C-BEE99CFC50BF}"/>
              </a:ext>
            </a:extLst>
          </p:cNvPr>
          <p:cNvSpPr/>
          <p:nvPr/>
        </p:nvSpPr>
        <p:spPr>
          <a:xfrm>
            <a:off x="5013960" y="25603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n-lt"/>
                <a:ea typeface="Calibri" pitchFamily="34" charset="-122"/>
                <a:cs typeface="Calibri" pitchFamily="34" charset="-120"/>
              </a:rPr>
              <a:t>Truncated SVD над TF-IDF матрицей → 10-мерное латентное пространство, обученное локально на корпусе.</a:t>
            </a:r>
            <a:endParaRPr lang="en-US" sz="1300" dirty="0">
              <a:latin typeface="+mn-lt"/>
            </a:endParaRPr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A3D3464F-7271-43CD-B539-3D5370C6D00F}"/>
              </a:ext>
            </a:extLst>
          </p:cNvPr>
          <p:cNvSpPr/>
          <p:nvPr/>
        </p:nvSpPr>
        <p:spPr>
          <a:xfrm>
            <a:off x="8362879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2EEAC548-C285-4204-BCEB-9EE2B19D30F6}"/>
              </a:ext>
            </a:extLst>
          </p:cNvPr>
          <p:cNvSpPr/>
          <p:nvPr/>
        </p:nvSpPr>
        <p:spPr>
          <a:xfrm>
            <a:off x="8808720" y="18745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9F207B49-294A-4A7B-99BE-5A4E467A8A66}"/>
              </a:ext>
            </a:extLst>
          </p:cNvPr>
          <p:cNvSpPr/>
          <p:nvPr/>
        </p:nvSpPr>
        <p:spPr>
          <a:xfrm>
            <a:off x="944880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+mn-lt"/>
                <a:ea typeface="Cambria" pitchFamily="34" charset="-122"/>
                <a:cs typeface="Cambria" pitchFamily="34" charset="-120"/>
              </a:rPr>
              <a:t>Гибрид (RRF)</a:t>
            </a:r>
            <a:endParaRPr lang="en-US" sz="1600" dirty="0">
              <a:latin typeface="+mn-lt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95D9CFF0-24F0-42D7-9742-4CB07E6F8719}"/>
              </a:ext>
            </a:extLst>
          </p:cNvPr>
          <p:cNvSpPr/>
          <p:nvPr/>
        </p:nvSpPr>
        <p:spPr>
          <a:xfrm>
            <a:off x="8529541" y="2560320"/>
            <a:ext cx="343385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n-lt"/>
                <a:ea typeface="Calibri" pitchFamily="34" charset="-122"/>
                <a:cs typeface="Calibri" pitchFamily="34" charset="-120"/>
              </a:rPr>
              <a:t>Reciprocal Rank Fusion объединяет ранжирования TF-IDF и LSA: 1/(k+rank), k=60.</a:t>
            </a:r>
            <a:endParaRPr lang="en-US" sz="13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270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>
            <a:spLocks noGrp="1"/>
          </p:cNvSpPr>
          <p:nvPr>
            <p:ph type="title"/>
          </p:nvPr>
        </p:nvSpPr>
        <p:spPr>
          <a:xfrm>
            <a:off x="1142999" y="355703"/>
            <a:ext cx="10632000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</a:pPr>
            <a:r>
              <a:rPr lang="ru-RU" dirty="0"/>
              <a:t>Данные эксперимента</a:t>
            </a:r>
            <a:endParaRPr dirty="0"/>
          </a:p>
        </p:txBody>
      </p:sp>
      <p:sp>
        <p:nvSpPr>
          <p:cNvPr id="242" name="Google Shape;242;p4"/>
          <p:cNvSpPr txBox="1">
            <a:spLocks noGrp="1"/>
          </p:cNvSpPr>
          <p:nvPr>
            <p:ph type="sldNum" idx="12"/>
          </p:nvPr>
        </p:nvSpPr>
        <p:spPr>
          <a:xfrm>
            <a:off x="9031704" y="63613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73" name="Text 1">
            <a:extLst>
              <a:ext uri="{FF2B5EF4-FFF2-40B4-BE49-F238E27FC236}">
                <a16:creationId xmlns:a16="http://schemas.microsoft.com/office/drawing/2014/main" id="{1E6EC648-B243-47F8-8115-C9227ED48513}"/>
              </a:ext>
            </a:extLst>
          </p:cNvPr>
          <p:cNvSpPr/>
          <p:nvPr/>
        </p:nvSpPr>
        <p:spPr>
          <a:xfrm>
            <a:off x="1167864" y="17630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65A82"/>
                </a:solidFill>
                <a:latin typeface="+mn-lt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>
              <a:latin typeface="+mn-lt"/>
            </a:endParaRPr>
          </a:p>
        </p:txBody>
      </p:sp>
      <p:sp>
        <p:nvSpPr>
          <p:cNvPr id="74" name="Text 2">
            <a:extLst>
              <a:ext uri="{FF2B5EF4-FFF2-40B4-BE49-F238E27FC236}">
                <a16:creationId xmlns:a16="http://schemas.microsoft.com/office/drawing/2014/main" id="{1620A1B8-874E-438C-8C7D-DCF27019A8CF}"/>
              </a:ext>
            </a:extLst>
          </p:cNvPr>
          <p:cNvSpPr/>
          <p:nvPr/>
        </p:nvSpPr>
        <p:spPr>
          <a:xfrm>
            <a:off x="1167864" y="27231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+mn-lt"/>
                <a:ea typeface="Calibri" pitchFamily="34" charset="-122"/>
                <a:cs typeface="Calibri" pitchFamily="34" charset="-120"/>
              </a:rPr>
              <a:t>документов в корпусе</a:t>
            </a:r>
            <a:endParaRPr lang="en-US" sz="1400" dirty="0">
              <a:latin typeface="+mn-lt"/>
            </a:endParaRPr>
          </a:p>
        </p:txBody>
      </p:sp>
      <p:sp>
        <p:nvSpPr>
          <p:cNvPr id="75" name="Text 3">
            <a:extLst>
              <a:ext uri="{FF2B5EF4-FFF2-40B4-BE49-F238E27FC236}">
                <a16:creationId xmlns:a16="http://schemas.microsoft.com/office/drawing/2014/main" id="{5E7F3CAB-1517-4755-99E3-E980F9038538}"/>
              </a:ext>
            </a:extLst>
          </p:cNvPr>
          <p:cNvSpPr/>
          <p:nvPr/>
        </p:nvSpPr>
        <p:spPr>
          <a:xfrm>
            <a:off x="4734024" y="17630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65A82"/>
                </a:solidFill>
                <a:latin typeface="+mn-lt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>
              <a:latin typeface="+mn-lt"/>
            </a:endParaRPr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36F6D023-E9FA-4D27-B53B-6AF980798176}"/>
              </a:ext>
            </a:extLst>
          </p:cNvPr>
          <p:cNvSpPr/>
          <p:nvPr/>
        </p:nvSpPr>
        <p:spPr>
          <a:xfrm>
            <a:off x="4734024" y="27231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+mn-lt"/>
                <a:ea typeface="Calibri" pitchFamily="34" charset="-122"/>
                <a:cs typeface="Calibri" pitchFamily="34" charset="-120"/>
              </a:rPr>
              <a:t>вопросов в QA-датасете</a:t>
            </a:r>
            <a:endParaRPr lang="en-US" sz="1400" dirty="0">
              <a:latin typeface="+mn-lt"/>
            </a:endParaRPr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2AD16B3B-8775-4C1A-90CB-3609306798BA}"/>
              </a:ext>
            </a:extLst>
          </p:cNvPr>
          <p:cNvSpPr/>
          <p:nvPr/>
        </p:nvSpPr>
        <p:spPr>
          <a:xfrm>
            <a:off x="8300184" y="17630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65A82"/>
                </a:solidFill>
                <a:latin typeface="+mn-lt"/>
                <a:ea typeface="Cambria" pitchFamily="34" charset="-122"/>
                <a:cs typeface="Cambria" pitchFamily="34" charset="-120"/>
              </a:rPr>
              <a:t>1–2</a:t>
            </a:r>
            <a:endParaRPr lang="en-US" sz="5400" dirty="0">
              <a:latin typeface="+mn-lt"/>
            </a:endParaRPr>
          </a:p>
        </p:txBody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4DEE20D4-F1D6-49A0-A014-9CF48A3224E9}"/>
              </a:ext>
            </a:extLst>
          </p:cNvPr>
          <p:cNvSpPr/>
          <p:nvPr/>
        </p:nvSpPr>
        <p:spPr>
          <a:xfrm>
            <a:off x="8300184" y="27231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+mn-lt"/>
                <a:ea typeface="Calibri" pitchFamily="34" charset="-122"/>
                <a:cs typeface="Calibri" pitchFamily="34" charset="-120"/>
              </a:rPr>
              <a:t>gold-документа на вопрос</a:t>
            </a:r>
            <a:endParaRPr lang="en-US" sz="1400" dirty="0">
              <a:latin typeface="+mn-lt"/>
            </a:endParaRPr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3A324491-20BD-4770-BE68-F00F847D67EA}"/>
              </a:ext>
            </a:extLst>
          </p:cNvPr>
          <p:cNvSpPr/>
          <p:nvPr/>
        </p:nvSpPr>
        <p:spPr>
          <a:xfrm>
            <a:off x="1167864" y="37747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+mn-lt"/>
                <a:ea typeface="Calibri" pitchFamily="34" charset="-122"/>
                <a:cs typeface="Calibri" pitchFamily="34" charset="-120"/>
              </a:rPr>
              <a:t>Корпус: </a:t>
            </a:r>
            <a:r>
              <a:rPr lang="en-US" sz="1500" dirty="0">
                <a:solidFill>
                  <a:srgbClr val="1E293B"/>
                </a:solidFill>
                <a:latin typeface="+mn-lt"/>
                <a:ea typeface="Calibri" pitchFamily="34" charset="-122"/>
                <a:cs typeface="Calibri" pitchFamily="34" charset="-120"/>
              </a:rPr>
              <a:t>карточки знаний по ключевым объектам 1С — справочники, документы, регистры, язык запросов, встроенный язык, роли доступа и др.</a:t>
            </a:r>
            <a:endParaRPr lang="en-US" sz="1500" dirty="0">
              <a:latin typeface="+mn-lt"/>
            </a:endParaRP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9FACC144-3F7E-49BF-A48F-91E4A53E3769}"/>
              </a:ext>
            </a:extLst>
          </p:cNvPr>
          <p:cNvSpPr/>
          <p:nvPr/>
        </p:nvSpPr>
        <p:spPr>
          <a:xfrm>
            <a:off x="1167864" y="45062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+mn-lt"/>
                <a:ea typeface="Calibri" pitchFamily="34" charset="-122"/>
                <a:cs typeface="Calibri" pitchFamily="34" charset="-120"/>
              </a:rPr>
              <a:t>QA-датасет: </a:t>
            </a:r>
            <a:r>
              <a:rPr lang="en-US" sz="1500" dirty="0">
                <a:solidFill>
                  <a:srgbClr val="1E293B"/>
                </a:solidFill>
                <a:latin typeface="+mn-lt"/>
                <a:ea typeface="Calibri" pitchFamily="34" charset="-122"/>
                <a:cs typeface="Calibri" pitchFamily="34" charset="-120"/>
              </a:rPr>
              <a:t>вопросы перефразированы относительно текста документов — проверяется устойчивость методов к парафразу, а не точное совпадение слов.</a:t>
            </a:r>
            <a:endParaRPr lang="en-US" sz="15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9661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>
            <a:spLocks noGrp="1"/>
          </p:cNvSpPr>
          <p:nvPr>
            <p:ph type="title"/>
          </p:nvPr>
        </p:nvSpPr>
        <p:spPr>
          <a:xfrm>
            <a:off x="1142999" y="355703"/>
            <a:ext cx="10632000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</a:pPr>
            <a:r>
              <a:rPr lang="ru-RU" dirty="0"/>
              <a:t>Экспериментальная настройка</a:t>
            </a:r>
            <a:endParaRPr dirty="0"/>
          </a:p>
        </p:txBody>
      </p:sp>
      <p:sp>
        <p:nvSpPr>
          <p:cNvPr id="242" name="Google Shape;242;p4"/>
          <p:cNvSpPr txBox="1">
            <a:spLocks noGrp="1"/>
          </p:cNvSpPr>
          <p:nvPr>
            <p:ph type="sldNum" idx="12"/>
          </p:nvPr>
        </p:nvSpPr>
        <p:spPr>
          <a:xfrm>
            <a:off x="9031704" y="63613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895E885-216B-43E9-A0CF-0A4C449C0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149301"/>
              </p:ext>
            </p:extLst>
          </p:nvPr>
        </p:nvGraphicFramePr>
        <p:xfrm>
          <a:off x="1259304" y="2069705"/>
          <a:ext cx="9857875" cy="3108960"/>
        </p:xfrm>
        <a:graphic>
          <a:graphicData uri="http://schemas.openxmlformats.org/drawingml/2006/table">
            <a:tbl>
              <a:tblPr/>
              <a:tblGrid>
                <a:gridCol w="265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Recall@1, Recall@3, Recall@5, MRR, средняя задержка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(зафиксирован для полной воспроизводимости)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Оборудование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CPU, 1 vCPU / 4 GB RAM, без использования GPU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Гиперпараметры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TF-IDF: n-граммы (1,2); LSA: 10 компонент SVD; RRF: k=60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203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>
            <a:spLocks noGrp="1"/>
          </p:cNvSpPr>
          <p:nvPr>
            <p:ph type="title"/>
          </p:nvPr>
        </p:nvSpPr>
        <p:spPr>
          <a:xfrm>
            <a:off x="1142999" y="355703"/>
            <a:ext cx="10632000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</a:pPr>
            <a:r>
              <a:rPr lang="ru-RU" dirty="0"/>
              <a:t>Результаты. Сравнение методов</a:t>
            </a:r>
            <a:endParaRPr dirty="0"/>
          </a:p>
        </p:txBody>
      </p:sp>
      <p:sp>
        <p:nvSpPr>
          <p:cNvPr id="242" name="Google Shape;242;p4"/>
          <p:cNvSpPr txBox="1">
            <a:spLocks noGrp="1"/>
          </p:cNvSpPr>
          <p:nvPr>
            <p:ph type="sldNum" idx="12"/>
          </p:nvPr>
        </p:nvSpPr>
        <p:spPr>
          <a:xfrm>
            <a:off x="9031704" y="63613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7EC6342A-E012-4E23-B694-6F81A6483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377098"/>
              </p:ext>
            </p:extLst>
          </p:nvPr>
        </p:nvGraphicFramePr>
        <p:xfrm>
          <a:off x="1288181" y="1533625"/>
          <a:ext cx="10241280" cy="2377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(baseline)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LSA (SVD)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Гибрид (RRF)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1">
            <a:extLst>
              <a:ext uri="{FF2B5EF4-FFF2-40B4-BE49-F238E27FC236}">
                <a16:creationId xmlns:a16="http://schemas.microsoft.com/office/drawing/2014/main" id="{563F96C3-D082-483C-904F-C80DC46B7AB3}"/>
              </a:ext>
            </a:extLst>
          </p:cNvPr>
          <p:cNvSpPr/>
          <p:nvPr/>
        </p:nvSpPr>
        <p:spPr>
          <a:xfrm>
            <a:off x="1288181" y="5008345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+mn-lt"/>
                <a:ea typeface="Calibri" pitchFamily="34" charset="-122"/>
                <a:cs typeface="Calibri" pitchFamily="34" charset="-120"/>
              </a:rPr>
              <a:t>LSA лучше по MRR и Recall@1 (точность первого результата). Гибрид — лучший результат по Recall@3.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8025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>
            <a:spLocks noGrp="1"/>
          </p:cNvSpPr>
          <p:nvPr>
            <p:ph type="title"/>
          </p:nvPr>
        </p:nvSpPr>
        <p:spPr>
          <a:xfrm>
            <a:off x="1142999" y="355703"/>
            <a:ext cx="10632000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Результаты: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Recall@k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 методам</a:t>
            </a:r>
          </a:p>
        </p:txBody>
      </p:sp>
      <p:sp>
        <p:nvSpPr>
          <p:cNvPr id="242" name="Google Shape;242;p4"/>
          <p:cNvSpPr txBox="1">
            <a:spLocks noGrp="1"/>
          </p:cNvSpPr>
          <p:nvPr>
            <p:ph type="sldNum" idx="12"/>
          </p:nvPr>
        </p:nvSpPr>
        <p:spPr>
          <a:xfrm>
            <a:off x="9031704" y="63613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fld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Chart 0">
            <a:extLst>
              <a:ext uri="{FF2B5EF4-FFF2-40B4-BE49-F238E27FC236}">
                <a16:creationId xmlns:a16="http://schemas.microsoft.com/office/drawing/2014/main" id="{D908A344-B1CC-453F-BEB7-047C82534B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0149762"/>
              </p:ext>
            </p:extLst>
          </p:nvPr>
        </p:nvGraphicFramePr>
        <p:xfrm>
          <a:off x="1142999" y="1485035"/>
          <a:ext cx="106070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1311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>
            <a:spLocks noGrp="1"/>
          </p:cNvSpPr>
          <p:nvPr>
            <p:ph type="title"/>
          </p:nvPr>
        </p:nvSpPr>
        <p:spPr>
          <a:xfrm>
            <a:off x="1142999" y="355703"/>
            <a:ext cx="10632000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Анализ результатов</a:t>
            </a:r>
          </a:p>
        </p:txBody>
      </p:sp>
      <p:sp>
        <p:nvSpPr>
          <p:cNvPr id="242" name="Google Shape;242;p4"/>
          <p:cNvSpPr txBox="1">
            <a:spLocks noGrp="1"/>
          </p:cNvSpPr>
          <p:nvPr>
            <p:ph type="sldNum" idx="12"/>
          </p:nvPr>
        </p:nvSpPr>
        <p:spPr>
          <a:xfrm>
            <a:off x="9031704" y="63613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67E9333-32A1-4080-9B54-93EF34706918}"/>
              </a:ext>
            </a:extLst>
          </p:cNvPr>
          <p:cNvSpPr/>
          <p:nvPr/>
        </p:nvSpPr>
        <p:spPr>
          <a:xfrm>
            <a:off x="1051560" y="1554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+mn-lt"/>
                <a:ea typeface="Calibri" pitchFamily="34" charset="-122"/>
                <a:cs typeface="Calibri" pitchFamily="34" charset="-120"/>
              </a:rPr>
              <a:t>LSA превосходит лексический TF-IDF baseline по MRR и Recall@1 — латентно-семантическое представление лучше улавливает перефразированные вопросы</a:t>
            </a:r>
            <a:endParaRPr lang="en-US" sz="16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03C4A4-46A5-4B37-9068-04CA9455F498}"/>
              </a:ext>
            </a:extLst>
          </p:cNvPr>
          <p:cNvSpPr/>
          <p:nvPr/>
        </p:nvSpPr>
        <p:spPr>
          <a:xfrm>
            <a:off x="1051560" y="2606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+mn-lt"/>
                <a:ea typeface="Calibri" pitchFamily="34" charset="-122"/>
                <a:cs typeface="Calibri" pitchFamily="34" charset="-120"/>
              </a:rPr>
              <a:t>TF-IDF надёжнее находит документ среди более широкого списка кандидатов (top-3, top-5), если запрос содержит специфические термины</a:t>
            </a:r>
            <a:endParaRPr lang="en-US" sz="1600" dirty="0">
              <a:latin typeface="+mn-lt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4713C86-0BCF-470E-9E49-846EEAC59E98}"/>
              </a:ext>
            </a:extLst>
          </p:cNvPr>
          <p:cNvSpPr/>
          <p:nvPr/>
        </p:nvSpPr>
        <p:spPr>
          <a:xfrm>
            <a:off x="1051560" y="3657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+mn-lt"/>
                <a:ea typeface="Calibri" pitchFamily="34" charset="-122"/>
                <a:cs typeface="Calibri" pitchFamily="34" charset="-120"/>
              </a:rPr>
              <a:t>Гибридный метод (RRF) даёт наиболее сбалансированный результат — лексический и семантический поиск компенсируют слабые стороны друг друга</a:t>
            </a:r>
            <a:endParaRPr lang="en-US" sz="1600" dirty="0">
              <a:latin typeface="+mn-lt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38FDC58E-6A60-4F2E-9FE8-D306B4C141BE}"/>
              </a:ext>
            </a:extLst>
          </p:cNvPr>
          <p:cNvSpPr/>
          <p:nvPr/>
        </p:nvSpPr>
        <p:spPr>
          <a:xfrm>
            <a:off x="1051560" y="4709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+mn-lt"/>
                <a:ea typeface="Calibri" pitchFamily="34" charset="-122"/>
                <a:cs typeface="Calibri" pitchFamily="34" charset="-120"/>
              </a:rPr>
              <a:t>Задержка всех методов пренебрежимо мала (&lt; 1.1 мс) на данном объёме корпуса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2110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>
            <a:spLocks noGrp="1"/>
          </p:cNvSpPr>
          <p:nvPr>
            <p:ph type="title"/>
          </p:nvPr>
        </p:nvSpPr>
        <p:spPr>
          <a:xfrm>
            <a:off x="1142904" y="404173"/>
            <a:ext cx="10632000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Ограничения</a:t>
            </a:r>
          </a:p>
        </p:txBody>
      </p:sp>
      <p:sp>
        <p:nvSpPr>
          <p:cNvPr id="242" name="Google Shape;242;p4"/>
          <p:cNvSpPr txBox="1">
            <a:spLocks noGrp="1"/>
          </p:cNvSpPr>
          <p:nvPr>
            <p:ph type="sldNum" idx="12"/>
          </p:nvPr>
        </p:nvSpPr>
        <p:spPr>
          <a:xfrm>
            <a:off x="9031704" y="63613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47FBFF93-25AD-461F-B4D6-D7B9292C1CB7}"/>
              </a:ext>
            </a:extLst>
          </p:cNvPr>
          <p:cNvSpPr/>
          <p:nvPr/>
        </p:nvSpPr>
        <p:spPr>
          <a:xfrm>
            <a:off x="1142904" y="1385826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04BDD00D-26D4-4212-849F-1F5EF478EC09}"/>
              </a:ext>
            </a:extLst>
          </p:cNvPr>
          <p:cNvSpPr/>
          <p:nvPr/>
        </p:nvSpPr>
        <p:spPr>
          <a:xfrm>
            <a:off x="1417224" y="138582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Малый объём корпуса (20 документов) и датасета (25 вопросов) — пилотный масштаб, не отражает реальный объём документации 1С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C168931F-3612-4248-89B4-B9BF3B1D57D4}"/>
              </a:ext>
            </a:extLst>
          </p:cNvPr>
          <p:cNvSpPr/>
          <p:nvPr/>
        </p:nvSpPr>
        <p:spPr>
          <a:xfrm>
            <a:off x="1142904" y="2373378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F57E1B8-C0C3-4CAF-BCAA-56D2676CB52C}"/>
              </a:ext>
            </a:extLst>
          </p:cNvPr>
          <p:cNvSpPr/>
          <p:nvPr/>
        </p:nvSpPr>
        <p:spPr>
          <a:xfrm>
            <a:off x="1417224" y="237337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Отсутствует компонент генерации ответа — оценивается только качество retrieval, не итоговый ответ RAG-системы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CA22F388-491C-4E55-A391-BA0325F188CC}"/>
              </a:ext>
            </a:extLst>
          </p:cNvPr>
          <p:cNvSpPr/>
          <p:nvPr/>
        </p:nvSpPr>
        <p:spPr>
          <a:xfrm>
            <a:off x="1142904" y="336093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EB5F8F2-2878-4558-9DC6-76125A135CF2}"/>
              </a:ext>
            </a:extLst>
          </p:cNvPr>
          <p:cNvSpPr/>
          <p:nvPr/>
        </p:nvSpPr>
        <p:spPr>
          <a:xfrm>
            <a:off x="1417224" y="336093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LSA вместо современных нейросетевых эмбеддингов — сравнение с sentence-transformers / E5 остаётся дальнейшей работой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A0A022C-CAD7-42E7-913E-1E4A5819E5BF}"/>
              </a:ext>
            </a:extLst>
          </p:cNvPr>
          <p:cNvSpPr/>
          <p:nvPr/>
        </p:nvSpPr>
        <p:spPr>
          <a:xfrm>
            <a:off x="1142904" y="4348482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9CD281C8-A9D9-47F3-92F9-2B156F0A40DA}"/>
              </a:ext>
            </a:extLst>
          </p:cNvPr>
          <p:cNvSpPr/>
          <p:nvPr/>
        </p:nvSpPr>
        <p:spPr>
          <a:xfrm>
            <a:off x="1417224" y="434848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Единственный детерминированный прогон без усреднения по нескольким seed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67DA7CCC-85AD-413B-B2DF-40864526E093}"/>
              </a:ext>
            </a:extLst>
          </p:cNvPr>
          <p:cNvSpPr/>
          <p:nvPr/>
        </p:nvSpPr>
        <p:spPr>
          <a:xfrm>
            <a:off x="1142904" y="5336034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F5BB3ABC-8D0C-4AA2-922A-C4BBD78B9C13}"/>
              </a:ext>
            </a:extLst>
          </p:cNvPr>
          <p:cNvSpPr/>
          <p:nvPr/>
        </p:nvSpPr>
        <p:spPr>
          <a:xfrm>
            <a:off x="1417224" y="533603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Нет сравнения с классическим BM25 и промышленными RAG-фреймворками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563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"/>
          <p:cNvSpPr txBox="1">
            <a:spLocks noGrp="1"/>
          </p:cNvSpPr>
          <p:nvPr>
            <p:ph type="title"/>
          </p:nvPr>
        </p:nvSpPr>
        <p:spPr>
          <a:xfrm>
            <a:off x="371981" y="365125"/>
            <a:ext cx="8238619" cy="64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185"/>
              </a:buClr>
              <a:buSzPts val="32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/>
          </a:p>
        </p:txBody>
      </p:sp>
      <p:sp>
        <p:nvSpPr>
          <p:cNvPr id="249" name="Google Shape;249;p5"/>
          <p:cNvSpPr txBox="1">
            <a:spLocks noGrp="1"/>
          </p:cNvSpPr>
          <p:nvPr>
            <p:ph type="body" idx="3"/>
          </p:nvPr>
        </p:nvSpPr>
        <p:spPr>
          <a:xfrm>
            <a:off x="9225655" y="1509701"/>
            <a:ext cx="2595952" cy="583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 dirty="0"/>
              <a:t>Репозиторий</a:t>
            </a:r>
            <a:endParaRPr dirty="0"/>
          </a:p>
        </p:txBody>
      </p:sp>
      <p:sp>
        <p:nvSpPr>
          <p:cNvPr id="251" name="Google Shape;251;p5"/>
          <p:cNvSpPr txBox="1">
            <a:spLocks noGrp="1"/>
          </p:cNvSpPr>
          <p:nvPr>
            <p:ph type="sldNum" idx="12"/>
          </p:nvPr>
        </p:nvSpPr>
        <p:spPr>
          <a:xfrm>
            <a:off x="915203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8C8EB85B-73E0-43B5-97AD-E82FC2903279}"/>
              </a:ext>
            </a:extLst>
          </p:cNvPr>
          <p:cNvSpPr/>
          <p:nvPr/>
        </p:nvSpPr>
        <p:spPr>
          <a:xfrm>
            <a:off x="731520" y="1737360"/>
            <a:ext cx="671201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 обученные LSA-эмбеддинги и гибридный RRF-подход способны превзойти лексический baseline даже без доступа к внешним предобученным моделям — рабочий retrieval-компонент для доменно-специфичных RAG-систем можно построить в условиях ограниченных ресурсов.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DF2D19BB-FF94-41D2-9B40-D206808F0594}"/>
              </a:ext>
            </a:extLst>
          </p:cNvPr>
          <p:cNvSpPr/>
          <p:nvPr/>
        </p:nvSpPr>
        <p:spPr>
          <a:xfrm>
            <a:off x="822960" y="3566160"/>
            <a:ext cx="6480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корпуса до объёма реальной документации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F94A13E-0B12-461B-BC45-BB90DA149532}"/>
              </a:ext>
            </a:extLst>
          </p:cNvPr>
          <p:cNvSpPr/>
          <p:nvPr/>
        </p:nvSpPr>
        <p:spPr>
          <a:xfrm>
            <a:off x="822960" y="4133088"/>
            <a:ext cx="6480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компонента генерации ответа (LLM)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B7AD5280-5F37-4C99-9E8F-E4D64CE1C84F}"/>
              </a:ext>
            </a:extLst>
          </p:cNvPr>
          <p:cNvSpPr/>
          <p:nvPr/>
        </p:nvSpPr>
        <p:spPr>
          <a:xfrm>
            <a:off x="822960" y="4700016"/>
            <a:ext cx="6480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5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равнение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BM25 и нейросетевыми эмбеддингами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9355AB4-4BD1-47F5-80F7-8B72E5567457}"/>
              </a:ext>
            </a:extLst>
          </p:cNvPr>
          <p:cNvSpPr/>
          <p:nvPr/>
        </p:nvSpPr>
        <p:spPr>
          <a:xfrm>
            <a:off x="822960" y="5266944"/>
            <a:ext cx="6480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Многократные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прогоны с разными seed для статистической значимости</a:t>
            </a:r>
            <a:endParaRPr lang="en-US" sz="1500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E0D609-20BD-4EB9-93FF-332F3E9A0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380" y="2347249"/>
            <a:ext cx="2604227" cy="26042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"/>
          <p:cNvSpPr txBox="1">
            <a:spLocks noGrp="1"/>
          </p:cNvSpPr>
          <p:nvPr>
            <p:ph type="ctrTitle"/>
          </p:nvPr>
        </p:nvSpPr>
        <p:spPr>
          <a:xfrm>
            <a:off x="1524000" y="2554660"/>
            <a:ext cx="9144000" cy="206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ru-RU" dirty="0"/>
              <a:t>Спасибо за внимание!</a:t>
            </a:r>
            <a:br>
              <a:rPr lang="ru-RU" dirty="0"/>
            </a:br>
            <a:r>
              <a:rPr lang="ru-RU" dirty="0"/>
              <a:t>RAG для документации 1С:Предприятие</a:t>
            </a:r>
            <a:br>
              <a:rPr lang="ru-RU" dirty="0"/>
            </a:br>
            <a:r>
              <a:rPr lang="ru-RU" dirty="0"/>
              <a:t>Сравнение стратегий </a:t>
            </a:r>
            <a:r>
              <a:rPr lang="ru-RU" dirty="0" err="1"/>
              <a:t>retrieval</a:t>
            </a:r>
            <a:r>
              <a:rPr lang="ru-RU" dirty="0"/>
              <a:t>: TF-IDF, LSA-</a:t>
            </a:r>
            <a:r>
              <a:rPr lang="ru-RU" dirty="0" err="1"/>
              <a:t>эмбеддинги</a:t>
            </a:r>
            <a:r>
              <a:rPr lang="ru-RU" dirty="0"/>
              <a:t> и гибридный подход (RRF)</a:t>
            </a:r>
            <a:br>
              <a:rPr lang="ru-RU" dirty="0"/>
            </a:br>
            <a:endParaRPr lang="ru-RU" dirty="0"/>
          </a:p>
        </p:txBody>
      </p:sp>
      <p:sp>
        <p:nvSpPr>
          <p:cNvPr id="216" name="Google Shape;216;p1"/>
          <p:cNvSpPr txBox="1">
            <a:spLocks noGrp="1"/>
          </p:cNvSpPr>
          <p:nvPr>
            <p:ph type="subTitle" idx="1"/>
          </p:nvPr>
        </p:nvSpPr>
        <p:spPr>
          <a:xfrm>
            <a:off x="876405" y="5243209"/>
            <a:ext cx="9144000" cy="711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b="1" dirty="0"/>
              <a:t>Студент</a:t>
            </a:r>
            <a:r>
              <a:rPr lang="ru-RU" dirty="0"/>
              <a:t>: Денисенко Алексей Сергеевич 14311-ДМ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b="1" dirty="0"/>
              <a:t>Научный руководитель</a:t>
            </a:r>
            <a:r>
              <a:rPr lang="ru-RU" dirty="0"/>
              <a:t>: доцент, к.т.н., Петрушин И.С.</a:t>
            </a:r>
            <a:endParaRPr dirty="0"/>
          </a:p>
        </p:txBody>
      </p:sp>
      <p:sp>
        <p:nvSpPr>
          <p:cNvPr id="217" name="Google Shape;217;p1"/>
          <p:cNvSpPr txBox="1"/>
          <p:nvPr/>
        </p:nvSpPr>
        <p:spPr>
          <a:xfrm>
            <a:off x="524873" y="6257407"/>
            <a:ext cx="15007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Иркутск 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977270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717</Words>
  <Application>Microsoft Office PowerPoint</Application>
  <PresentationFormat>Широкоэкранный</PresentationFormat>
  <Paragraphs>113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Тема Office</vt:lpstr>
      <vt:lpstr>RAG для документации 1С:Предприятие Сравнение стратегий retrieval: TF-IDF, LSA-эмбеддинги и гибридный подход (RRF) </vt:lpstr>
      <vt:lpstr>Проблема и актуальность</vt:lpstr>
      <vt:lpstr>Цель работы</vt:lpstr>
      <vt:lpstr>Схема работы системы</vt:lpstr>
      <vt:lpstr>Методы - три стратегии retrieval</vt:lpstr>
      <vt:lpstr>Данные эксперимента</vt:lpstr>
      <vt:lpstr>Экспериментальная настройка</vt:lpstr>
      <vt:lpstr>Результаты. Сравнение методов</vt:lpstr>
      <vt:lpstr>Результаты: Recall@k по методам</vt:lpstr>
      <vt:lpstr>Анализ результатов</vt:lpstr>
      <vt:lpstr>Ограничения</vt:lpstr>
      <vt:lpstr>Заключение</vt:lpstr>
      <vt:lpstr>Спасибо за внимание! RAG для документации 1С:Предприятие Сравнение стратегий retrieval: TF-IDF, LSA-эмбеддинги и гибридный подход (RRF)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для документации 1С:Предприятие Сравнение стратегий retrieval: TF-IDF, LSA-эмбеддинги и гибридный подход (RRF) </dc:title>
  <dc:creator>Yana Ugorskaya</dc:creator>
  <cp:lastModifiedBy>1</cp:lastModifiedBy>
  <cp:revision>4</cp:revision>
  <dcterms:created xsi:type="dcterms:W3CDTF">2026-03-28T01:42:32Z</dcterms:created>
  <dcterms:modified xsi:type="dcterms:W3CDTF">2026-07-04T07:21:44Z</dcterms:modified>
</cp:coreProperties>
</file>